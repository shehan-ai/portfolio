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8" r:id="rId7"/>
    <p:sldId id="260" r:id="rId8"/>
    <p:sldId id="266" r:id="rId9"/>
    <p:sldId id="26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60"/>
  </p:normalViewPr>
  <p:slideViewPr>
    <p:cSldViewPr snapToGrid="0">
      <p:cViewPr varScale="1">
        <p:scale>
          <a:sx n="88" d="100"/>
          <a:sy n="88" d="100"/>
        </p:scale>
        <p:origin x="50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1T00:31:41.418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E367A-7AEB-4645-AD04-6EB8AAD8127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348B2-1C7E-4C74-8FBE-0FC10055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348B2-1C7E-4C74-8FBE-0FC1005548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28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348B2-1C7E-4C74-8FBE-0FC1005548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6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05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04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21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2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4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70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21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00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2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33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10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09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10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863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79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9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1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rown_University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Harvard_Medical_School" TargetMode="External"/><Relationship Id="rId4" Type="http://schemas.openxmlformats.org/officeDocument/2006/relationships/hyperlink" Target="https://en.wikipedia.org/wiki/Massachusetts_Institute_of_Technolog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504" y="1211459"/>
            <a:ext cx="8825658" cy="2677648"/>
          </a:xfrm>
        </p:spPr>
        <p:txBody>
          <a:bodyPr/>
          <a:lstStyle/>
          <a:p>
            <a:r>
              <a:rPr lang="en-US" sz="3200" dirty="0" smtClean="0"/>
              <a:t>My Biotechnology  Role Model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Professor Sangeeta Bhatia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sz="2400" dirty="0" smtClean="0"/>
              <a:t>Scientist  Inventor  Entrepreneur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1412" y="4411619"/>
            <a:ext cx="8825658" cy="1309911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Presented by:</a:t>
            </a:r>
          </a:p>
          <a:p>
            <a:r>
              <a:rPr lang="en-US" sz="1200" dirty="0" err="1" smtClean="0">
                <a:solidFill>
                  <a:schemeClr val="bg1">
                    <a:lumMod val="95000"/>
                  </a:schemeClr>
                </a:solidFill>
              </a:rPr>
              <a:t>Buwanaji</a:t>
            </a:r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95000"/>
                  </a:schemeClr>
                </a:solidFill>
              </a:rPr>
              <a:t>imesha</a:t>
            </a:r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 Dias </a:t>
            </a:r>
            <a:r>
              <a:rPr lang="en-US" sz="1200" dirty="0" err="1" smtClean="0">
                <a:solidFill>
                  <a:schemeClr val="bg1">
                    <a:lumMod val="95000"/>
                  </a:schemeClr>
                </a:solidFill>
              </a:rPr>
              <a:t>NagahawattE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 HS26200917</a:t>
            </a:r>
          </a:p>
          <a:p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Assignment 3 – Career Trajectory in Biotechnology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617" y="1211459"/>
            <a:ext cx="2628812" cy="2628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510724" y="4159765"/>
            <a:ext cx="25927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hlinkClick r:id="rId3" tooltip="Brown University"/>
              </a:rPr>
              <a:t>Brown University</a:t>
            </a:r>
            <a:r>
              <a:rPr lang="en-GB" sz="1200" dirty="0" smtClean="0"/>
              <a:t> </a:t>
            </a:r>
            <a:r>
              <a:rPr lang="en-GB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(B.S.)</a:t>
            </a:r>
          </a:p>
          <a:p>
            <a:r>
              <a:rPr lang="en-GB" sz="1200" dirty="0" smtClean="0">
                <a:hlinkClick r:id="rId4" tooltip="Massachusetts Institute of Technology"/>
              </a:rPr>
              <a:t>Massachusetts Institute of Technology</a:t>
            </a:r>
            <a:r>
              <a:rPr lang="en-GB" sz="1200" dirty="0" smtClean="0"/>
              <a:t> </a:t>
            </a:r>
            <a:r>
              <a:rPr lang="en-GB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(M.S., Ph.D.)</a:t>
            </a:r>
          </a:p>
          <a:p>
            <a:r>
              <a:rPr lang="en-GB" sz="1200" dirty="0" smtClean="0">
                <a:hlinkClick r:id="rId5" tooltip="Harvard Medical School"/>
              </a:rPr>
              <a:t>Harvard Medical School</a:t>
            </a:r>
            <a:r>
              <a:rPr lang="en-GB" sz="1200" dirty="0" smtClean="0"/>
              <a:t> </a:t>
            </a:r>
            <a:r>
              <a:rPr lang="en-GB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(M.D.)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1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60" y="895291"/>
            <a:ext cx="8761413" cy="706964"/>
          </a:xfrm>
        </p:spPr>
        <p:txBody>
          <a:bodyPr/>
          <a:lstStyle/>
          <a:p>
            <a:r>
              <a:rPr lang="en-US" dirty="0" smtClean="0"/>
              <a:t>WHY I CHOSE HER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9337" y="2282655"/>
            <a:ext cx="6736916" cy="4551219"/>
          </a:xfr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 smtClean="0"/>
              <a:t>Scientist</a:t>
            </a:r>
            <a:r>
              <a:rPr lang="en-GB" dirty="0"/>
              <a:t>, Professor, Inventor &amp; Entrepreneur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Combines scientific research with real-world applications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Connects biotechnology with business and innovation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Inspires women in science and biotechnology entrepreneurship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916" y="2225545"/>
            <a:ext cx="3978790" cy="22380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916" y="4456616"/>
            <a:ext cx="3978790" cy="23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831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EDUCATION AND CAREER JOURNEY</a:t>
            </a:r>
            <a:endParaRPr lang="en-US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0" y="1808180"/>
            <a:ext cx="12192000" cy="4784209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</a:pPr>
            <a:endParaRPr lang="en-GB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None/>
            </a:pP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endParaRPr lang="en-GB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None/>
            </a:pP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</a:t>
            </a:r>
            <a:r>
              <a:rPr lang="en-GB" altLang="en-US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Brown University 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</a:t>
            </a:r>
            <a:r>
              <a:rPr lang="en-GB" altLang="en-US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MIT 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       </a:t>
            </a:r>
            <a:r>
              <a:rPr lang="en-GB" altLang="en-US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Harvard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None/>
            </a:pP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</a:pPr>
            <a:endParaRPr lang="en-GB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</a:pPr>
            <a:endParaRPr lang="en-GB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</a:pPr>
            <a:endParaRPr lang="en-GB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</a:pPr>
            <a:endParaRPr lang="en-GB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</a:pPr>
            <a:endParaRPr lang="en-GB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None/>
            </a:pP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(B.S.)                                                 (M.S. </a:t>
            </a:r>
            <a:r>
              <a:rPr lang="en-GB" altLang="en-US" dirty="0">
                <a:solidFill>
                  <a:schemeClr val="tx1"/>
                </a:solidFill>
                <a:latin typeface="Arial" panose="020B0604020202020204" pitchFamily="34" charset="0"/>
              </a:rPr>
              <a:t>&amp; Ph.D. 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)                                             (M.D.)</a:t>
            </a:r>
            <a:endParaRPr lang="en-GB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Tx/>
              <a:buNone/>
            </a:pP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</a:t>
            </a:r>
            <a:r>
              <a:rPr lang="en-GB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Biomedical Engineering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en-GB" altLang="en-US" dirty="0" err="1" smtClean="0">
                <a:solidFill>
                  <a:schemeClr val="tx2"/>
                </a:solidFill>
                <a:latin typeface="Arial" panose="020B0604020202020204" pitchFamily="34" charset="0"/>
              </a:rPr>
              <a:t>Engineering</a:t>
            </a:r>
            <a:r>
              <a:rPr lang="en-GB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 + Medicine </a:t>
            </a:r>
            <a:r>
              <a:rPr lang="en-GB" altLang="en-US" dirty="0">
                <a:solidFill>
                  <a:schemeClr val="tx2"/>
                </a:solidFill>
                <a:latin typeface="Arial" panose="020B0604020202020204" pitchFamily="34" charset="0"/>
              </a:rPr>
              <a:t>+ </a:t>
            </a:r>
            <a:r>
              <a:rPr lang="en-GB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Biology         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GB" altLang="en-US" dirty="0" smtClean="0">
                <a:solidFill>
                  <a:schemeClr val="tx2"/>
                </a:solidFill>
                <a:latin typeface="Arial" panose="020B0604020202020204" pitchFamily="34" charset="0"/>
              </a:rPr>
              <a:t>Professor </a:t>
            </a:r>
            <a:r>
              <a:rPr lang="en-GB" altLang="en-US" dirty="0">
                <a:solidFill>
                  <a:schemeClr val="tx2"/>
                </a:solidFill>
                <a:latin typeface="Arial" panose="020B0604020202020204" pitchFamily="34" charset="0"/>
              </a:rPr>
              <a:t>&amp; Researcher at MIT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27907" y="2769327"/>
            <a:ext cx="6087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AutoShape 2" descr="blob:https://web.whatsapp.com/42a07d02-0627-4dbd-a1e1-d1712629c97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520" y="3223241"/>
            <a:ext cx="3336562" cy="22256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251" y="3221823"/>
            <a:ext cx="3340554" cy="2227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3221823"/>
            <a:ext cx="3105561" cy="227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7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Biotechnology Contributions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0815" y="2444790"/>
            <a:ext cx="8825659" cy="3416300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 Biomedical research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 smtClean="0"/>
              <a:t> </a:t>
            </a:r>
            <a:r>
              <a:rPr lang="en-GB" dirty="0" smtClean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Cancer research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Liver disease research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Disease detection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Regenerative medicine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Biotechnology technologies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Real-world medical applications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611" y="2509430"/>
            <a:ext cx="5716088" cy="2212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5660" y="4937760"/>
            <a:ext cx="6229620" cy="92333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HepatoPac</a:t>
            </a:r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®</a:t>
            </a:r>
          </a:p>
          <a:p>
            <a:r>
              <a:rPr lang="en-GB" dirty="0"/>
              <a:t>An engineered human liver model used for drug testing and toxicity studies.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426" y="6124062"/>
            <a:ext cx="12177574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Turning biotechnology research into real-world solutions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0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My Career Trajectory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3914" y="2444334"/>
            <a:ext cx="7623286" cy="2966101"/>
          </a:xfr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6">
                  <a:lumMod val="50000"/>
                </a:schemeClr>
              </a:buClr>
            </a:pPr>
            <a:r>
              <a:rPr lang="en-GB" dirty="0">
                <a:ln w="0">
                  <a:noFill/>
                </a:ln>
                <a:solidFill>
                  <a:schemeClr val="tx1"/>
                </a:solidFill>
              </a:rPr>
              <a:t>Biotechnology </a:t>
            </a: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entrepreneur</a:t>
            </a:r>
          </a:p>
          <a:p>
            <a:pPr>
              <a:lnSpc>
                <a:spcPct val="150000"/>
              </a:lnSpc>
              <a:buClr>
                <a:schemeClr val="accent6">
                  <a:lumMod val="50000"/>
                </a:schemeClr>
              </a:buClr>
            </a:pP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Turns </a:t>
            </a:r>
            <a:r>
              <a:rPr lang="en-GB" dirty="0">
                <a:ln w="0">
                  <a:noFill/>
                </a:ln>
                <a:solidFill>
                  <a:schemeClr val="tx1"/>
                </a:solidFill>
              </a:rPr>
              <a:t>research into </a:t>
            </a: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products</a:t>
            </a:r>
          </a:p>
          <a:p>
            <a:pPr>
              <a:lnSpc>
                <a:spcPct val="150000"/>
              </a:lnSpc>
              <a:buClr>
                <a:schemeClr val="accent6">
                  <a:lumMod val="50000"/>
                </a:schemeClr>
              </a:buClr>
            </a:pP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Biotechnology </a:t>
            </a:r>
            <a:r>
              <a:rPr lang="en-GB" dirty="0">
                <a:ln w="0">
                  <a:noFill/>
                </a:ln>
                <a:solidFill>
                  <a:schemeClr val="tx1"/>
                </a:solidFill>
              </a:rPr>
              <a:t>businesses </a:t>
            </a: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Communication</a:t>
            </a:r>
          </a:p>
          <a:p>
            <a:pPr>
              <a:lnSpc>
                <a:spcPct val="150000"/>
              </a:lnSpc>
              <a:buClr>
                <a:schemeClr val="accent6">
                  <a:lumMod val="50000"/>
                </a:schemeClr>
              </a:buClr>
            </a:pP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Leadership</a:t>
            </a:r>
          </a:p>
          <a:p>
            <a:pPr>
              <a:lnSpc>
                <a:spcPct val="150000"/>
              </a:lnSpc>
              <a:buClr>
                <a:schemeClr val="accent6">
                  <a:lumMod val="50000"/>
                </a:schemeClr>
              </a:buClr>
            </a:pP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Teamwork </a:t>
            </a:r>
            <a:r>
              <a:rPr lang="en-GB" dirty="0">
                <a:ln w="0">
                  <a:noFill/>
                </a:ln>
                <a:solidFill>
                  <a:schemeClr val="tx1"/>
                </a:solidFill>
              </a:rPr>
              <a:t>&amp; </a:t>
            </a:r>
            <a:r>
              <a:rPr lang="en-GB" dirty="0" smtClean="0">
                <a:ln w="0">
                  <a:noFill/>
                </a:ln>
                <a:solidFill>
                  <a:schemeClr val="tx1"/>
                </a:solidFill>
              </a:rPr>
              <a:t>collaboration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71" y="2444333"/>
            <a:ext cx="3802108" cy="2966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3772" y="5850969"/>
            <a:ext cx="100584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Supports women in biotechnology entrepreneurship</a:t>
            </a:r>
            <a:endParaRPr lang="en-US" dirty="0">
              <a:ln w="0"/>
              <a:solidFill>
                <a:schemeClr val="accent5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40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999793"/>
            <a:ext cx="8761413" cy="706964"/>
          </a:xfrm>
        </p:spPr>
        <p:txBody>
          <a:bodyPr/>
          <a:lstStyle/>
          <a:p>
            <a:r>
              <a:rPr lang="en-US" dirty="0" smtClean="0"/>
              <a:t>Major Career Awards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760617"/>
            <a:ext cx="8572520" cy="356398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Lemelson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-MIT Prize (2014): Awarded this $500,000 prize—often dubbed the "Oscar for inventors"—for her </a:t>
            </a:r>
            <a:r>
              <a:rPr lang="en-GB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groundbreaking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 work in miniaturized technologies and dedication to mentoring</a:t>
            </a:r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Heinz 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Award (2015): Received the 20th Heinz Award in the Technology, Economy, and Employment category for her seminal contributions to tissue engineering, disease detection, and her advocacy for women in STEM</a:t>
            </a:r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GB" sz="1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Othmer</a:t>
            </a:r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Gold Medal (2019): </a:t>
            </a:r>
            <a:r>
              <a:rPr lang="en-GB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Honored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 for her outstanding heritage contributions to progress in chemistry and science</a:t>
            </a:r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David 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and Lucile Packard Fellowship (1999–2004): Awarded early in her academic career to support creative, unrestricted scientific research</a:t>
            </a:r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GB" sz="1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Global 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Indus </a:t>
            </a:r>
            <a:r>
              <a:rPr lang="en-GB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Technovator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 Award: Recognized for </a:t>
            </a:r>
            <a:r>
              <a:rPr lang="en-GB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leverageable</a:t>
            </a:r>
            <a:r>
              <a:rPr lang="en-GB" sz="1400" b="1" dirty="0">
                <a:latin typeface="Cambria" panose="02040503050406030204" pitchFamily="18" charset="0"/>
                <a:ea typeface="Cambria" panose="02040503050406030204" pitchFamily="18" charset="0"/>
              </a:rPr>
              <a:t> technology contributions impacting humanity.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0530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Reflection and Conclusion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04" y="2158554"/>
            <a:ext cx="6761137" cy="39540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Short </a:t>
            </a:r>
            <a:r>
              <a:rPr lang="en-GB" dirty="0" smtClean="0">
                <a:solidFill>
                  <a:schemeClr val="accent6">
                    <a:lumMod val="50000"/>
                  </a:schemeClr>
                </a:solidFill>
              </a:rPr>
              <a:t>Term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Biotechnology knowledge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Practical skills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Communication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Internship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50000"/>
                  </a:schemeClr>
                </a:solidFill>
              </a:rPr>
              <a:t>Medium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Term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 </a:t>
            </a:r>
            <a:r>
              <a:rPr lang="en-GB" dirty="0"/>
              <a:t>Postgraduate </a:t>
            </a:r>
            <a:r>
              <a:rPr lang="en-GB" dirty="0" smtClean="0"/>
              <a:t>education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 Industry </a:t>
            </a:r>
            <a:r>
              <a:rPr lang="en-GB" dirty="0"/>
              <a:t>experience </a:t>
            </a:r>
            <a:endParaRPr lang="en-GB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 </a:t>
            </a:r>
            <a:r>
              <a:rPr lang="en-GB" dirty="0"/>
              <a:t>Business skills </a:t>
            </a:r>
            <a:endParaRPr lang="en-GB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/>
              <a:t> Leadership skills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26" y="5175342"/>
            <a:ext cx="2522245" cy="16826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26" y="2299895"/>
            <a:ext cx="5296514" cy="29264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563" y="2299895"/>
            <a:ext cx="2847999" cy="44856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294" y="5247833"/>
            <a:ext cx="2733646" cy="153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8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7305" y="2426354"/>
            <a:ext cx="106767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GB" dirty="0" smtClean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GB" dirty="0" smtClean="0">
                <a:solidFill>
                  <a:schemeClr val="accent6">
                    <a:lumMod val="50000"/>
                  </a:schemeClr>
                </a:solidFill>
              </a:rPr>
              <a:t>Long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Term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dirty="0"/>
              <a:t> Biotechnology leader</a:t>
            </a:r>
          </a:p>
          <a:p>
            <a:pPr marL="285750" indent="-28575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dirty="0"/>
              <a:t> </a:t>
            </a:r>
            <a:r>
              <a:rPr lang="en-GB" dirty="0" err="1"/>
              <a:t>Bioproducts</a:t>
            </a:r>
            <a:endParaRPr lang="en-GB" dirty="0"/>
          </a:p>
          <a:p>
            <a:pPr marL="285750" indent="-28575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GB" dirty="0"/>
              <a:t> Entrepreneurship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GB" dirty="0" smtClean="0"/>
              <a:t>                                       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712"/>
            <a:ext cx="4120709" cy="2317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" t="1073" r="799" b="1834"/>
          <a:stretch/>
        </p:blipFill>
        <p:spPr>
          <a:xfrm>
            <a:off x="4180114" y="418011"/>
            <a:ext cx="7881258" cy="4371704"/>
          </a:xfrm>
          <a:prstGeom prst="rect">
            <a:avLst/>
          </a:prstGeom>
          <a:ln w="9525" cap="sq" cmpd="thickThin">
            <a:solidFill>
              <a:schemeClr val="bg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TextBox 12"/>
          <p:cNvSpPr txBox="1"/>
          <p:nvPr/>
        </p:nvSpPr>
        <p:spPr>
          <a:xfrm>
            <a:off x="1091293" y="5258550"/>
            <a:ext cx="9698626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>
            <a:glow rad="228600">
              <a:schemeClr val="tx2">
                <a:lumMod val="40000"/>
                <a:lumOff val="60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           </a:t>
            </a:r>
          </a:p>
          <a:p>
            <a:pPr>
              <a:lnSpc>
                <a:spcPct val="150000"/>
              </a:lnSpc>
            </a:pPr>
            <a:r>
              <a:rPr lang="en-GB" dirty="0"/>
              <a:t> </a:t>
            </a:r>
            <a:r>
              <a:rPr lang="en-GB" dirty="0" smtClean="0"/>
              <a:t>                        </a:t>
            </a:r>
            <a:r>
              <a:rPr lang="en-GB" dirty="0" smtClean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Reflection: Biotechnology </a:t>
            </a:r>
            <a:r>
              <a:rPr lang="en-GB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more than laboratory work.</a:t>
            </a:r>
            <a:endParaRPr lang="en-US" dirty="0">
              <a:ln w="0">
                <a:solidFill>
                  <a:schemeClr val="tx2">
                    <a:lumMod val="75000"/>
                  </a:schemeClr>
                </a:solidFill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72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3508" y="2577737"/>
            <a:ext cx="1117309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MIT – Faculty Profile: Sangeeta N. Bhatia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Used for </a:t>
            </a:r>
            <a:r>
              <a:rPr lang="en-US" sz="1600" dirty="0"/>
              <a:t>her education, career, research, patents, biotechnology companies, and achievements.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MIT Faculty Profile – Sangeeta Bhatia</a:t>
            </a:r>
            <a:r>
              <a:rPr lang="en-US" sz="1600" dirty="0" smtClean="0"/>
              <a:t>⁠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MIT Technology Licensing Office – Sangeeta Bhatia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for her entrepreneurship, biotechnology technologies, </a:t>
            </a:r>
            <a:r>
              <a:rPr lang="en-US" sz="1600" dirty="0" err="1"/>
              <a:t>nanosensors</a:t>
            </a:r>
            <a:r>
              <a:rPr lang="en-US" sz="1600" dirty="0"/>
              <a:t>, human </a:t>
            </a:r>
            <a:r>
              <a:rPr lang="en-US" sz="1600" dirty="0" err="1"/>
              <a:t>microlivers</a:t>
            </a:r>
            <a:r>
              <a:rPr lang="en-US" sz="1600" dirty="0"/>
              <a:t>, and companies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for her degrees, research background, inventions, entrepreneurship, and role at MIT.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MIT IMES – Sangeeta Bhatia</a:t>
            </a:r>
            <a:r>
              <a:rPr lang="en-US" sz="1600" dirty="0" smtClean="0"/>
              <a:t>⁠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Lemelson</a:t>
            </a:r>
            <a:r>
              <a:rPr lang="en-US" sz="1600" dirty="0"/>
              <a:t>-MIT – Sangeeta Bhatia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for her background, childhood, inspiration, inventions, biotechnology work, and </a:t>
            </a:r>
            <a:r>
              <a:rPr lang="en-US" sz="1600" dirty="0" err="1"/>
              <a:t>Lemelson</a:t>
            </a:r>
            <a:r>
              <a:rPr lang="en-US" sz="1600" dirty="0"/>
              <a:t>-MIT Prize.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Lemelson</a:t>
            </a:r>
            <a:r>
              <a:rPr lang="en-US" sz="1600" dirty="0"/>
              <a:t>-MIT – Sangeeta Bhatia</a:t>
            </a:r>
            <a:r>
              <a:rPr lang="en-US" sz="1600" dirty="0" smtClean="0"/>
              <a:t>⁠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Lemelson</a:t>
            </a:r>
            <a:r>
              <a:rPr lang="en-US" sz="1600" dirty="0"/>
              <a:t> 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Harvard </a:t>
            </a:r>
            <a:r>
              <a:rPr lang="en-US" sz="1600" dirty="0"/>
              <a:t>Wyss Institute – Sangeeta Bhatia</a:t>
            </a:r>
            <a:r>
              <a:rPr lang="en-US" sz="1600" dirty="0" smtClean="0"/>
              <a:t>⁠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Wyss </a:t>
            </a:r>
            <a:r>
              <a:rPr lang="en-US" sz="1600" dirty="0" smtClean="0"/>
              <a:t>Institute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detailed source covering her early life, education, inventions, entrepreneurship, and scientific journey.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713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9870097" cy="383213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3000" dirty="0" smtClean="0">
                <a:solidFill>
                  <a:schemeClr val="accent6">
                    <a:lumMod val="50000"/>
                  </a:schemeClr>
                </a:solidFill>
              </a:rPr>
              <a:t>THANK YOU</a:t>
            </a:r>
            <a:endParaRPr lang="en-US" sz="13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62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1069</TotalTime>
  <Words>467</Words>
  <Application>Microsoft Office PowerPoint</Application>
  <PresentationFormat>Widescreen</PresentationFormat>
  <Paragraphs>89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Century Gothic</vt:lpstr>
      <vt:lpstr>Wingdings</vt:lpstr>
      <vt:lpstr>Wingdings 3</vt:lpstr>
      <vt:lpstr>Ion Boardroom</vt:lpstr>
      <vt:lpstr>My Biotechnology  Role Model Professor Sangeeta Bhatia  Scientist  Inventor  Entrepreneur</vt:lpstr>
      <vt:lpstr>WHY I CHOSE HER</vt:lpstr>
      <vt:lpstr>EDUCATION AND CAREER JOURNEY</vt:lpstr>
      <vt:lpstr>Biotechnology Contributions</vt:lpstr>
      <vt:lpstr>My Career Trajectory</vt:lpstr>
      <vt:lpstr>Major Career Awards</vt:lpstr>
      <vt:lpstr>Reflection and Conclusion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Introducton</dc:title>
  <dc:creator>ASUS</dc:creator>
  <cp:lastModifiedBy>ASUS</cp:lastModifiedBy>
  <cp:revision>46</cp:revision>
  <dcterms:created xsi:type="dcterms:W3CDTF">2026-08-16T16:01:48Z</dcterms:created>
  <dcterms:modified xsi:type="dcterms:W3CDTF">2026-08-21T06:48:18Z</dcterms:modified>
</cp:coreProperties>
</file>